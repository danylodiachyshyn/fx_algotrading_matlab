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6" r:id="rId20"/>
    <p:sldId id="280" r:id="rId21"/>
    <p:sldId id="28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2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240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71C8-F328-AC9E-9AAF-EFA17202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2A16D-0005-CB9C-4398-22827F3DF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9EE29-D685-3DDF-F392-C61B23897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1804B-FED8-6F29-8FE7-6E33CEB1B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29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172200" y="0"/>
            <a:ext cx="7315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37960" y="3657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3657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52360" y="3657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09560" y="3657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66760" y="3657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14300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95160" y="114300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52360" y="114300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14300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14300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7960" y="192024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92024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192024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09560" y="192024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66760" y="192024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269748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269748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52360" y="269748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09560" y="269748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66760" y="269748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37960" y="347472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95160" y="347472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52360" y="347472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09560" y="347472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66760" y="347472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37960" y="42519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95160" y="42519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52360" y="42519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909560" y="42519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66760" y="4251960"/>
            <a:ext cx="54864" cy="54864"/>
          </a:xfrm>
          <a:prstGeom prst="ellipse">
            <a:avLst/>
          </a:prstGeom>
          <a:solidFill>
            <a:srgbClr val="1B3D5A"/>
          </a:solidFill>
          <a:ln w="12700">
            <a:solidFill>
              <a:srgbClr val="1B3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CCA"/>
                </a:solidFill>
              </a:rPr>
              <a:t>Double EMA + ATR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114300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FX Strategy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Backtest Analysis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A7C8"/>
                </a:solidFill>
              </a:rPr>
              <a:t>EURUSD  ·  USDJPY  ·  Daily  ·  H4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1783080" cy="475488"/>
          </a:xfrm>
          <a:prstGeom prst="rect">
            <a:avLst/>
          </a:prstGeom>
          <a:solidFill>
            <a:srgbClr val="0E2233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35844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C8"/>
                </a:solidFill>
              </a:rPr>
              <a:t>IS + OoS Split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57200" y="3767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70 / 30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377440" y="3566160"/>
            <a:ext cx="1783080" cy="475488"/>
          </a:xfrm>
          <a:prstGeom prst="rect">
            <a:avLst/>
          </a:prstGeom>
          <a:solidFill>
            <a:srgbClr val="0E2233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77440" y="35844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C8"/>
                </a:solidFill>
              </a:rPr>
              <a:t>Monte Carlo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377440" y="3767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1 000 paths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97680" y="3566160"/>
            <a:ext cx="1783080" cy="475488"/>
          </a:xfrm>
          <a:prstGeom prst="rect">
            <a:avLst/>
          </a:prstGeom>
          <a:solidFill>
            <a:srgbClr val="0E2233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97680" y="35844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C8"/>
                </a:solidFill>
              </a:rPr>
              <a:t>Walk-Forward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297680" y="3767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Rolling windows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080"/>
                </a:solidFill>
              </a:rPr>
              <a:t>Quantitative Research  |  Strategy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Strategy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Double EMA + ATR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54864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98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A8"/>
                </a:solidFill>
              </a:rPr>
              <a:t>Signal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Fast EMA crosses Slow EMA — crossover direction sets long/short bias.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39696"/>
            <a:ext cx="54864" cy="658368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1396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5C"/>
                </a:solidFill>
              </a:rPr>
              <a:t>Filter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3957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ATR must exceed a minimum threshold to confirm sufficient volatility before entry is allowed.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80944"/>
            <a:ext cx="54864" cy="658368"/>
          </a:xfrm>
          <a:prstGeom prst="rect">
            <a:avLst/>
          </a:prstGeom>
          <a:solidFill>
            <a:srgbClr val="E88A14"/>
          </a:solidFill>
          <a:ln w="12700">
            <a:solidFill>
              <a:srgbClr val="E88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9809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A14"/>
                </a:solidFill>
              </a:rPr>
              <a:t>Risk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2369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Fixed Stop-Loss and Take-Profit defined as % of entry price, giving a constant R:R per trade.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822192"/>
            <a:ext cx="54864" cy="65836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8221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9CCA"/>
                </a:solidFill>
              </a:rPr>
              <a:t>Exit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407822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Trade closes at SL hit, TP hit, or opposing EMA crossover signal.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Tested Configurations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023360" cy="1203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Pair / TF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EURUSD Daily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0.6%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USDJPY Daily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5.0%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EURUSD H4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0.4%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0.4%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USDJPY H4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0.5%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54880" y="3017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Validation Framework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3401568"/>
            <a:ext cx="12801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5488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SL / TP Grid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72200" y="3401568"/>
            <a:ext cx="1280160" cy="347472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7220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Sensitivity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589520" y="3401568"/>
            <a:ext cx="1280160" cy="347472"/>
          </a:xfrm>
          <a:prstGeom prst="rect">
            <a:avLst/>
          </a:prstGeom>
          <a:solidFill>
            <a:srgbClr val="E88A14"/>
          </a:solidFill>
          <a:ln w="12700">
            <a:solidFill>
              <a:srgbClr val="E88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58952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Out-of-Sample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54880" y="3877056"/>
            <a:ext cx="1280160" cy="34747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54880" y="3877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Walk-Forward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72200" y="3877056"/>
            <a:ext cx="12801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72200" y="3877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Monte Carlo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1D7ED-F9AD-8A45-DC66-F1DD34B99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6CB5C6-EB3C-50CB-223C-9F9BE40D9EC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1B6D6B-94B5-DD0A-4A8D-5CB865BA57FE}"/>
              </a:ext>
            </a:extLst>
          </p:cNvPr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Strategy Introduction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25687D-D73B-0A06-42C6-19FAB62FE8FA}"/>
              </a:ext>
            </a:extLst>
          </p:cNvPr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Double EMA + ATR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D571BA0-4DB5-0D05-D839-806246BED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56" y="658368"/>
            <a:ext cx="7996488" cy="448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5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280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B3D5A"/>
                </a:solidFill>
              </a:rPr>
              <a:t>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554480" y="457200"/>
            <a:ext cx="54864" cy="4114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SL / TP Optimization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A7C8"/>
                </a:solidFill>
              </a:rPr>
              <a:t>Simple grid search across stop-loss and take-profit levels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5146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Brute-force grid: SL ∈ [0.3%, 2%]  ×  TP ∈ [0.4%, 5%]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Objective: maximise total return over full in-sample period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Four datasets tested independently: EURUSD Daily / H4, USDJPY Daily / H4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Optimal parameters then frozen for all subsequent tests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 / TP Optimization — EURUSD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Equity curve at optimal SL=0.6%, TP=1.0%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Equity curve at optimal SL=0.4%, TP=0.4%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Daily: wider TP (1%) captures multi-day swings  ·  H4: tight symmetric SL/TP suits intraday mean-reversion pockets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SL / TP Optimization — USDJPY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83210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77240"/>
            <a:ext cx="7952198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USDJPY H4 — IS (left) vs OoS (right) equity curves in full detail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Both IS and OoS curves trend upward — strongest confirmation of edge generalization in the entire study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 / TP Optimization — USDJPY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8A14"/>
          </a:solidFill>
          <a:ln w="12700">
            <a:solidFill>
              <a:srgbClr val="E88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Optimal SL=2%, TP=5% (trend-riding config)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Optimal SL=0.5%, TP=1.0%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USDJPY Daily demands wide SL/TP to ride JPY depreciation trends  ·  H4 benefits from tighter 1:2 R:R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280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B3D5A"/>
                </a:solidFill>
              </a:rPr>
              <a:t>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554480" y="457200"/>
            <a:ext cx="54864" cy="4114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Sensitivity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A7C8"/>
                </a:solidFill>
              </a:rPr>
              <a:t>Parameter robustness across EMA period neighbourhoods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5146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Fast EMA and Slow EMA varied ±50% around optimal values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Heat-map of total return across the full 2-D parameter grid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Wide, flat peak → robust  |  Sharp, narrow peak → fragile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All four datasets compared side-by-side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Sensitivity Analysis — EURUSD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moderate peak, acceptable neighbourhood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flatter plateau, stronger robustness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H4 sensitivity surface is notably flatter → parameter choices are less critical on the H4 timeframe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Sensitivity Analysis — USDJPY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8A14"/>
          </a:solidFill>
          <a:ln w="12700">
            <a:solidFill>
              <a:srgbClr val="E88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sharper peak, moderate fragility risk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wide positive region, most robust profile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USDJPY H4 shows the widest positive sensitivity region across all datasets — strongest robustness score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280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B3D5A"/>
                </a:solidFill>
              </a:rPr>
              <a:t>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554480" y="457200"/>
            <a:ext cx="54864" cy="4114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Out-of-Sample Testing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A7C8"/>
                </a:solidFill>
              </a:rPr>
              <a:t>IS parameters applied to unseen data (30% holdout)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5146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IS window: first 70% of data — parameters optimised here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OoS window: last 30% of data — parameters locked, no look-ahead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Both IS and OoS equity curves displayed side-by-side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Key metric: OoS curve must be positive and not drastically below IS slope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Out-of-Sample — EURUSD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IS strong, OoS positive (ends ~+$0.11)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OoS shows initial dip, partial recovery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Daily OoS: genuine edge confirmed  ·  H4 OoS: weaker — ranging EURUSD regime adversely affects trend-following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Out-of-Sample — USDJPY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8A14"/>
          </a:solidFill>
          <a:ln w="12700">
            <a:solidFill>
              <a:srgbClr val="E88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IS strong; OoS dips then recovers to +20 JPY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OoS strong: rises to +31 JPY, IS:OoS ratio ≈ 1.2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USDJPY H4 OoS is the standout result — IS:OoS return ratio ≈ 1.2:1, minimal performance degradation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280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B3D5A"/>
                </a:solidFill>
              </a:rPr>
              <a:t>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554480" y="457200"/>
            <a:ext cx="54864" cy="4114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Walk-Forward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A7C8"/>
                </a:solidFill>
              </a:rPr>
              <a:t>Rolling re-optimisation across time windows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5146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Data split into overlapping IS/OoS windows rolled forward in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Parameters re-optimised at each IS window; applied to the next OoS window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Stitched OoS segments form the WFA equity curve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Tests whether the strategy generalises across different market regimes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Walk-Forward Analysis — EURUSD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EURUSD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WFA equity curve (price + WFA P&amp;L)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WFA: gains early, erosion in ranging period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FFF3E0"/>
          </a:solidFill>
          <a:ln w="12700">
            <a:solidFill>
              <a:srgbClr val="FFD1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4F00"/>
                </a:solidFill>
              </a:rPr>
              <a:t>⚠  EURUSD H4 WFA shows structural weakness — equity curve fails to recover after the 2014–2020 ranging regime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Walk-Forward Analysis — USDJPY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Daily  &amp;  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8A14"/>
          </a:solidFill>
          <a:ln w="12700">
            <a:solidFill>
              <a:srgbClr val="E88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Daily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USDJPY H4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2062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Daily — WFA equity curve negative overall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97280"/>
            <a:ext cx="42062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H4 — WFA: worst result, -35 JPY drawdown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1A1A"/>
                </a:solidFill>
              </a:rPr>
              <a:t>⚠  WFA fails across both USDJPY timeframes — regime shifts between windows cause severe parameter instability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280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B3D5A"/>
                </a:solidFill>
              </a:rPr>
              <a:t>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554480" y="457200"/>
            <a:ext cx="54864" cy="4114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Monte Carlo Simulation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A7C8"/>
                </a:solidFill>
              </a:rPr>
              <a:t>Statistical robustness via trade-sequence shuffling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5146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1 000 random reshufflings of the historical trade sequence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Grey fan = distribution of all MC paths  ·  Cyan = mean path  ·  Dashed = ±1σ band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Green = IS actual equity  ·  Blue = OoS actual (post decision point)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Decision gate: if OoS actual falls below lower band → review strategy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ECDE8"/>
                </a:solidFill>
              </a:rPr>
              <a:t>Four separate MC analyses: EURUSD Daily / H4, USDJPY Daily / H4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Monte Carlo — EURUSD Daily (1/4)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Full simulation fan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83210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77240"/>
            <a:ext cx="82296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1 000 MC paths | Decision after 15 OoS trades | Blue (OoS actual) tracks above MC mean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OoS actual (blue) sits above MC median at the 15-trade decision gate — positive early signal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Monte Carlo — EURUSD H4 (1/4)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Full simulation fan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83210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77240"/>
            <a:ext cx="82296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1 000 MC paths | Decision after 40 OoS trades | OoS actual tracks near MC median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OoS actual marginally below MC mean — passes decision gate but lacks conviction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Monte Carlo — USDJPY Daily (1/4)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Full simulation fan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83210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77240"/>
            <a:ext cx="82296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1 000 MC paths | Decision after 15 OoS trades | OoS actual near lower MC confidence band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8F0F9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OoS actual within distribution — passes 15-trade MC gate but tracks the lower bound; warrants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Monte Carlo — USDJPY H4 (1/4)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78040" y="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BDD6"/>
                </a:solidFill>
              </a:rPr>
              <a:t>Full simulation fan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83210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77240"/>
            <a:ext cx="82296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2A6"/>
                </a:solidFill>
              </a:rPr>
              <a:t>1 000 MC paths | Decision after 40 OoS trades | OoS actual ABOVE MC mean — strongest result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E3F4EC"/>
          </a:solidFill>
          <a:ln w="12700">
            <a:solidFill>
              <a:srgbClr val="A3D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C35"/>
                </a:solidFill>
              </a:rPr>
              <a:t>★  OoS actual (blue) tracks above MC mean at 40-trade gate — exceptionally strong MC result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1130</Words>
  <Application>Microsoft Macintosh PowerPoint</Application>
  <PresentationFormat>On-screen Show (16:9)</PresentationFormat>
  <Paragraphs>188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 EMA + ATR FX Strategy — Backtest Analysis</dc:title>
  <dc:subject>PptxGenJS Presentation</dc:subject>
  <dc:creator>PptxGenJS</dc:creator>
  <cp:lastModifiedBy>Дячишин Данило Романович</cp:lastModifiedBy>
  <cp:revision>2</cp:revision>
  <dcterms:created xsi:type="dcterms:W3CDTF">2026-05-18T15:20:51Z</dcterms:created>
  <dcterms:modified xsi:type="dcterms:W3CDTF">2026-05-18T16:01:52Z</dcterms:modified>
</cp:coreProperties>
</file>